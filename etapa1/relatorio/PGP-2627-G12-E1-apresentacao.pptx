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526912e7-a50f-e291-d570-cbb5f859e742}">
          <p14:sldIdLst>
            <p14:sldId id="256"/>
          </p14:sldIdLst>
        </p14:section>
        <p14:section name="Casos de uso" id="{7d080c08-d368-e83a-e843-5bc50a0bfcdf}">
          <p14:sldIdLst>
            <p14:sldId id="257"/>
            <p14:sldId id="258"/>
            <p14:sldId id="259"/>
          </p14:sldIdLst>
        </p14:section>
        <p14:section name="Modelo de dados" id="{f6b7a814-33ee-9d07-6f42-6767f3e843aa}">
          <p14:sldIdLst>
            <p14:sldId id="260"/>
            <p14:sldId id="261"/>
          </p14:sldIdLst>
        </p14:section>
        <p14:section name="Restrições e serviços" id="{796c342c-0e86-8a32-fa93-e84db565b408}">
          <p14:sldIdLst>
            <p14:sldId id="262"/>
            <p14:sldId id="263"/>
          </p14:sldIdLst>
        </p14:section>
        <p14:section name="Fluxos" id="{1f7c6050-c200-9c9d-dea6-3250702560c1}">
          <p14:sldIdLst>
            <p14:sldId id="264"/>
            <p14:sldId id="265"/>
          </p14:sldIdLst>
        </p14:section>
        <p14:section name="Esboços" id="{58a783e1-fa44-d924-2a29-0b75b96793c3}">
          <p14:sldIdLst>
            <p14:sldId id="266"/>
            <p14:sldId id="267"/>
          </p14:sldIdLst>
        </p14:section>
        <p14:section name="Fecho" id="{72744c76-51c2-bb6a-1a5b-7074936eaeaa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Reis abre a apresentação: apresenta o grupo e diz que vão mostrar o desenho inicial da aplicação e a pesquisa de tecnologias. Cada pessoa apresenta a parte que fez.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Reis: explica o problema em duas frases e a escolha da stack MEAN (a sugerida no enunciado). Os números à direita resumem a dimensão do projeto: 29 user stories agrupadas em 21 casos de uso.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Reis: o enunciado não dá volumes nem tempos, por isso a equipa assumiu valores (são estimativas, a confirmar com o cliente) que servem de referência às RNF-08 e RNF-10. Porquê Scrum: cliente participativo com demonstrações em cada sprint, equipa de 5, requisitos que podem mudar e um semestre com 3 sprints de cerca de um mês. A cascata não serve porque exige requisitos estáveis e só entrega no fim. O gestor de projeto faz parcialmente de Product Owner: ordena as user stories e distribui-as pelos sprints.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Reis: o utilizador tem 16 casos de uso, o gestor 7; 'Iniciar sessão' e 'Visualizar página de álbum' são comuns. User stories sobre os mesmos dados foram agrupadas (ex.: Gerir coleção = US10 + US11). Duas relações «extend»: Gerir artista favorito estende Visualizar página de artista, e Gerir stock estende Visualizar página de álbum (o gestor altera o stock a partir dessa página, US25 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Rodrigo: diagrama de topo, só classes e associações, com uma cor por grupo (catálogo azul, loja verde, utilizadores amarelo, coleções roxo, pedidos vermelho). Sublinhar que a VersaoAlbum é o centro do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Rodrigo: explicar as quatro decisões. Exemplo do enunciado: 'Last Resort' está no 'Infest' e no 'Now 4' — por isso a Faixa é uma classe. Se perguntarem pelo preço na fatura: guarda-se o preço pago porque o preço na loja pode mudar.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Ze: as 30 restrições do enunciado estão nas notas dos diagramas. Encontrámos mais 21 lendo os critérios de aceitação das user stories — nenhuma foi inventada, cada uma tem a frase de origem. Exemplos na tabela.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Ze: cada escolha foi comparada com concorrentes, com preços consultados a 27/out/2026. Argumento principal do Nominatim: o modelo guarda as coordenadas na Morada, e Google/Mapbox restringem ou cobram isso. Dois serviços de pagamento porque a US28 b) pede escolha.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Edson: a compra tem um diagrama de alto nível (pesquisa → carrinho → pagar) e o pagamento está decomposto numa subatividade, como pede o enunciado. Raias: utilizador, aplicação, serviço de pagamentos. Notação UML: decisões em losango com guardas [ ], barras de fork/join. A reserva das unidades resolve o caso de dois utilizadores a comprarem a última unidade ao mesmo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Edson: este fluxo junta quatro user stories e três atores. Se aceite, a versão aparece logo na página do álbum e o utilizador pode adicioná-la à coleção. Há mais dois fluxos no relatório: criar conta/iniciar sessão e gerir o catálogo.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Miguel: fizemos 12 esboços de baixa fidelidade; este é o mais complexo. Os botões 'Coleção' e 'Carrinho' atuam sobre a versão; 'Adicionar a uma lista' atua sobre o álbum.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Miguel: no carrinho os itens mais recentes aparecem primeiro; ao pagar escolhe-se o serviço e aparecem mensagens de sucesso ou falha. À direita a versão para telemóvel (RNF-04): tabelas passam a cartões e o botão Pagar fica fixo no fundo.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Reis: mostrar que lemos o enunciado com atenção — encontrámos pontos ambíguos, perguntámos ao professor e documentámos o que assumimos.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Todos: perguntas. Cada pessoa responde sobre a sua parte.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78638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78638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D4D4D8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</a:rPr>
              <a:t>PGP 2026/27 · Grupo 12 · Etapa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Gestão de coleções de álbuns físicos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D4D4D8"/>
                </a:solidFill>
              </a:rPr>
              <a:t>Etapa 1 — Desenho inicial e pesquisa de tecnologias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D4D4D8"/>
                </a:solidFill>
              </a:rPr>
              <a:t> 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D4D4D8"/>
                </a:solidFill>
              </a:rPr>
              <a:t>Grupo 12 · Rodrigo, Reis, Miguel, Ze, Edson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D4D4D8"/>
                </a:solidFill>
              </a:rPr>
              <a:t>Planeamento e Gestão de Projeto 2026/27</a:t>
            </a:r>
            <a:endParaRPr lang="en-US" sz="1800" dirty="0"/>
          </a:p>
        </p:txBody>
      </p:sp>
      <p:sp>
        <p:nvSpPr>
          <p:cNvPr id="4" name="disco-grande"/>
          <p:cNvSpPr/>
          <p:nvPr/>
        </p:nvSpPr>
        <p:spPr>
          <a:xfrm>
            <a:off x="8778240" y="1463040"/>
            <a:ext cx="4206240" cy="4206240"/>
          </a:xfrm>
          <a:prstGeom prst="ellipse">
            <a:avLst/>
          </a:prstGeom>
          <a:solidFill>
            <a:srgbClr val="27272A"/>
          </a:solidFill>
          <a:ln w="25400">
            <a:solidFill>
              <a:srgbClr val="3F3F46"/>
            </a:solidFill>
            <a:prstDash val="solid"/>
          </a:ln>
        </p:spPr>
      </p:sp>
      <p:sp>
        <p:nvSpPr>
          <p:cNvPr id="5" name="sulco"/>
          <p:cNvSpPr/>
          <p:nvPr/>
        </p:nvSpPr>
        <p:spPr>
          <a:xfrm>
            <a:off x="9418320" y="2103120"/>
            <a:ext cx="2926080" cy="2926080"/>
          </a:xfrm>
          <a:prstGeom prst="ellipse">
            <a:avLst/>
          </a:prstGeom>
          <a:solidFill>
            <a:srgbClr val="27272A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6" name="rotulo"/>
          <p:cNvSpPr/>
          <p:nvPr/>
        </p:nvSpPr>
        <p:spPr>
          <a:xfrm>
            <a:off x="10378440" y="306324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furo"/>
          <p:cNvSpPr/>
          <p:nvPr/>
        </p:nvSpPr>
        <p:spPr>
          <a:xfrm>
            <a:off x="10817352" y="3502152"/>
            <a:ext cx="128016" cy="12801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Uma loja de música que também gere coleções</a:t>
            </a:r>
            <a:endParaRPr lang="en-US" sz="3200" dirty="0"/>
          </a:p>
        </p:txBody>
      </p:sp>
      <p:sp>
        <p:nvSpPr>
          <p:cNvPr id="3" name="disco"/>
          <p:cNvSpPr/>
          <p:nvPr/>
        </p:nvSpPr>
        <p:spPr>
          <a:xfrm>
            <a:off x="10561320" y="41148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disco-centro"/>
          <p:cNvSpPr/>
          <p:nvPr/>
        </p:nvSpPr>
        <p:spPr>
          <a:xfrm>
            <a:off x="10762488" y="61264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apresentador"/>
          <p:cNvSpPr txBox="1"/>
          <p:nvPr/>
        </p:nvSpPr>
        <p:spPr>
          <a:xfrm>
            <a:off x="941832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Reis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Os utilizadores registam os álbuns físicos que têm (CD, vinil, cassete), compram na loja e organizam listas.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 gestor gere o catálogo, o stock e os pedidos de novas versões.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Aplicação web de três camadas, com a stack MEAN: Angular, Express, Node.js e MongoDB.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949440" y="1645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6949440" y="2560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user stories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418320" y="1645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9418320" y="2560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casos de uso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36576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4572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atores humanos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418320" y="36576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000" dirty="0"/>
          </a:p>
        </p:txBody>
      </p:sp>
      <p:sp>
        <p:nvSpPr>
          <p:cNvPr id="14" name="Text 12"/>
          <p:cNvSpPr txBox="1"/>
          <p:nvPr/>
        </p:nvSpPr>
        <p:spPr>
          <a:xfrm>
            <a:off x="9418320" y="4572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serviços externos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Âmbito do produto e porquê Scrum</a:t>
            </a:r>
            <a:endParaRPr lang="en-US" sz="3200" dirty="0"/>
          </a:p>
        </p:txBody>
      </p:sp>
      <p:sp>
        <p:nvSpPr>
          <p:cNvPr id="3" name="disco"/>
          <p:cNvSpPr/>
          <p:nvPr/>
        </p:nvSpPr>
        <p:spPr>
          <a:xfrm>
            <a:off x="10561320" y="41148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disco-centro"/>
          <p:cNvSpPr/>
          <p:nvPr/>
        </p:nvSpPr>
        <p:spPr>
          <a:xfrm>
            <a:off x="10762488" y="61264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apresentador"/>
          <p:cNvSpPr txBox="1"/>
          <p:nvPr/>
        </p:nvSpPr>
        <p:spPr>
          <a:xfrm>
            <a:off x="941832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Reis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Pressupostos (estimativas da equipa)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20240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1 000 utilizadores registados, até 50 em simultâneo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2 000 álbuns e 4 000 versões no catálogo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Páginas em até 2 s; sugestões da pesquisa em até 300 ms (RNF-08)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Backend sem estado, para poder acrescentar nós (RNF-10)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Restrições: MEAN, custo gratuito, Nominatim a 1 pedido/s, pagamentos só em teste</a:t>
            </a:r>
            <a:endParaRPr lang="en-US" sz="1500" dirty="0"/>
          </a:p>
        </p:txBody>
      </p:sp>
      <p:sp>
        <p:nvSpPr>
          <p:cNvPr id="8" name="cartao"/>
          <p:cNvSpPr/>
          <p:nvPr/>
        </p:nvSpPr>
        <p:spPr>
          <a:xfrm>
            <a:off x="6035040" y="1463040"/>
            <a:ext cx="274320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9" name="marca"/>
          <p:cNvSpPr/>
          <p:nvPr/>
        </p:nvSpPr>
        <p:spPr>
          <a:xfrm>
            <a:off x="6263640" y="1719072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16276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Cliente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029968"/>
            <a:ext cx="2011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Participativo: demonstrações no fim de março, abril e maio.</a:t>
            </a:r>
            <a:endParaRPr lang="en-US" sz="1600" dirty="0"/>
          </a:p>
        </p:txBody>
      </p:sp>
      <p:sp>
        <p:nvSpPr>
          <p:cNvPr id="12" name="cartao"/>
          <p:cNvSpPr/>
          <p:nvPr/>
        </p:nvSpPr>
        <p:spPr>
          <a:xfrm>
            <a:off x="8915400" y="1463040"/>
            <a:ext cx="274320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3" name="marca"/>
          <p:cNvSpPr/>
          <p:nvPr/>
        </p:nvSpPr>
        <p:spPr>
          <a:xfrm>
            <a:off x="9144000" y="1719072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464040" y="16276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Pessoas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464040" y="2029968"/>
            <a:ext cx="2011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Equipa de 5, dentro dos 3 a 9 do Scrum.</a:t>
            </a:r>
            <a:endParaRPr lang="en-US" sz="1600" dirty="0"/>
          </a:p>
        </p:txBody>
      </p:sp>
      <p:sp>
        <p:nvSpPr>
          <p:cNvPr id="16" name="cartao"/>
          <p:cNvSpPr/>
          <p:nvPr/>
        </p:nvSpPr>
        <p:spPr>
          <a:xfrm>
            <a:off x="6035040" y="3749040"/>
            <a:ext cx="274320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7" name="marca"/>
          <p:cNvSpPr/>
          <p:nvPr/>
        </p:nvSpPr>
        <p:spPr>
          <a:xfrm>
            <a:off x="6263640" y="4005072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0" y="39136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Produto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4315968"/>
            <a:ext cx="2011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Requisitos podem mudar: o cliente pode pedir alterações.</a:t>
            </a:r>
            <a:endParaRPr lang="en-US" sz="1600" dirty="0"/>
          </a:p>
        </p:txBody>
      </p:sp>
      <p:sp>
        <p:nvSpPr>
          <p:cNvPr id="20" name="cartao"/>
          <p:cNvSpPr/>
          <p:nvPr/>
        </p:nvSpPr>
        <p:spPr>
          <a:xfrm>
            <a:off x="8915400" y="3749040"/>
            <a:ext cx="274320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21" name="marca"/>
          <p:cNvSpPr/>
          <p:nvPr/>
        </p:nvSpPr>
        <p:spPr>
          <a:xfrm>
            <a:off x="9144000" y="4005072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464040" y="39136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Ambiente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464040" y="4315968"/>
            <a:ext cx="2011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Semestre com 3 sprints de cerca de um mês.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035040" y="5943600"/>
            <a:ext cx="5623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A cascata exige requisitos estáveis e só entrega no fim; o Scrum entrega em cada sprint e reordena o backlog.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Casos de uso: um diagrama por ator</a:t>
            </a:r>
            <a:endParaRPr lang="en-US" sz="3200" dirty="0"/>
          </a:p>
        </p:txBody>
      </p:sp>
      <p:sp>
        <p:nvSpPr>
          <p:cNvPr id="3" name="disco"/>
          <p:cNvSpPr/>
          <p:nvPr/>
        </p:nvSpPr>
        <p:spPr>
          <a:xfrm>
            <a:off x="10561320" y="41148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disco-centro"/>
          <p:cNvSpPr/>
          <p:nvPr/>
        </p:nvSpPr>
        <p:spPr>
          <a:xfrm>
            <a:off x="10762488" y="61264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apresentador"/>
          <p:cNvSpPr txBox="1"/>
          <p:nvPr/>
        </p:nvSpPr>
        <p:spPr>
          <a:xfrm>
            <a:off x="941832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Reis</a:t>
            </a:r>
            <a:endParaRPr lang="en-US" sz="1200" dirty="0"/>
          </a:p>
        </p:txBody>
      </p:sp>
      <p:pic>
        <p:nvPicPr>
          <p:cNvPr id="6" name="diagrama-utilizador" descr="C:\Users\rodri\Desktop\PGP\etapa1\casos-uso\img\casos-uso-utilizad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95658"/>
            <a:ext cx="3931920" cy="4998203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7" name="diagrama-gestor" descr="C:\Users\rodri\Desktop\PGP\etapa1\casos-uso\img\casos-uso-ges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9074" y="1463040"/>
            <a:ext cx="3734972" cy="24688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8" name="Text 4"/>
          <p:cNvSpPr txBox="1"/>
          <p:nvPr/>
        </p:nvSpPr>
        <p:spPr>
          <a:xfrm>
            <a:off x="4754880" y="420624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Um só diagrama com 21 casos de uso tinha linhas cruzadas por todo o lado: dividimos por ator.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Serviços externos ligados aos casos de uso que os usam: mapas, geocodificação e pagamentos.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As 29 user stories estão todas cobertas (matriz US↔UC).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Modelo de dados: 19 classes em 5 grupos</a:t>
            </a:r>
            <a:endParaRPr lang="en-US" sz="3200" dirty="0"/>
          </a:p>
        </p:txBody>
      </p:sp>
      <p:sp>
        <p:nvSpPr>
          <p:cNvPr id="3" name="disco"/>
          <p:cNvSpPr/>
          <p:nvPr/>
        </p:nvSpPr>
        <p:spPr>
          <a:xfrm>
            <a:off x="10561320" y="41148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disco-centro"/>
          <p:cNvSpPr/>
          <p:nvPr/>
        </p:nvSpPr>
        <p:spPr>
          <a:xfrm>
            <a:off x="10762488" y="61264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apresentador"/>
          <p:cNvSpPr txBox="1"/>
          <p:nvPr/>
        </p:nvSpPr>
        <p:spPr>
          <a:xfrm>
            <a:off x="941832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Rodrigo</a:t>
            </a:r>
            <a:endParaRPr lang="en-US" sz="1200" dirty="0"/>
          </a:p>
        </p:txBody>
      </p:sp>
      <p:pic>
        <p:nvPicPr>
          <p:cNvPr id="6" name="diagrama-topo" descr="C:\Users\rodri\Desktop\PGP\etapa1\classes\img\01-to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1965" y="1371600"/>
            <a:ext cx="6297590" cy="42976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classe central é a </a:t>
            </a:r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VersaoAlbum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: o álbum num suporte concreto, com EAN-13. É o que se compra, coleciona e tem stock.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Quatro decisões que explicam o modelo</a:t>
            </a:r>
            <a:endParaRPr lang="en-US" sz="3200" dirty="0"/>
          </a:p>
        </p:txBody>
      </p:sp>
      <p:sp>
        <p:nvSpPr>
          <p:cNvPr id="3" name="disco"/>
          <p:cNvSpPr/>
          <p:nvPr/>
        </p:nvSpPr>
        <p:spPr>
          <a:xfrm>
            <a:off x="10561320" y="41148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disco-centro"/>
          <p:cNvSpPr/>
          <p:nvPr/>
        </p:nvSpPr>
        <p:spPr>
          <a:xfrm>
            <a:off x="10762488" y="61264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apresentador"/>
          <p:cNvSpPr txBox="1"/>
          <p:nvPr/>
        </p:nvSpPr>
        <p:spPr>
          <a:xfrm>
            <a:off x="941832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Rodrigo</a:t>
            </a:r>
            <a:endParaRPr lang="en-US" sz="1200" dirty="0"/>
          </a:p>
        </p:txBody>
      </p:sp>
      <p:pic>
        <p:nvPicPr>
          <p:cNvPr id="6" name="diagrama-catalogo" descr="C:\Users\rodri\Desktop\PGP\etapa1\classes\img\02-cata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057" y="1371600"/>
            <a:ext cx="4027406" cy="493776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7" name="cartao"/>
          <p:cNvSpPr/>
          <p:nvPr/>
        </p:nvSpPr>
        <p:spPr>
          <a:xfrm>
            <a:off x="5120640" y="1463040"/>
            <a:ext cx="31089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8" name="marca"/>
          <p:cNvSpPr/>
          <p:nvPr/>
        </p:nvSpPr>
        <p:spPr>
          <a:xfrm>
            <a:off x="5349240" y="1719072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669280" y="16276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Solista e Grupo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669280" y="2029968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Subclasses de Artista. Os membros de um grupo só podem ser solistas, por isso um grupo nunca contém grupos.</a:t>
            </a:r>
            <a:endParaRPr lang="en-US" sz="1600" dirty="0"/>
          </a:p>
        </p:txBody>
      </p:sp>
      <p:sp>
        <p:nvSpPr>
          <p:cNvPr id="11" name="cartao"/>
          <p:cNvSpPr/>
          <p:nvPr/>
        </p:nvSpPr>
        <p:spPr>
          <a:xfrm>
            <a:off x="8503920" y="1463040"/>
            <a:ext cx="31089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2" name="marca"/>
          <p:cNvSpPr/>
          <p:nvPr/>
        </p:nvSpPr>
        <p:spPr>
          <a:xfrm>
            <a:off x="8732520" y="1719072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052560" y="16276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Faixa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9052560" y="2029968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Classe própria: a mesma canção aparece em vários álbuns, com números diferentes.</a:t>
            </a:r>
            <a:endParaRPr lang="en-US" sz="1600" dirty="0"/>
          </a:p>
        </p:txBody>
      </p:sp>
      <p:sp>
        <p:nvSpPr>
          <p:cNvPr id="15" name="cartao"/>
          <p:cNvSpPr/>
          <p:nvPr/>
        </p:nvSpPr>
        <p:spPr>
          <a:xfrm>
            <a:off x="5120640" y="3931920"/>
            <a:ext cx="31089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6" name="marca"/>
          <p:cNvSpPr/>
          <p:nvPr/>
        </p:nvSpPr>
        <p:spPr>
          <a:xfrm>
            <a:off x="5349240" y="4187952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669280" y="40965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Versão ≠ Álbum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669280" y="4498848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O mesmo álbum existe em CD, vinil e várias edições. Coleção e carrinho guardam versões; listas guardam álbuns.</a:t>
            </a:r>
            <a:endParaRPr lang="en-US" sz="1600" dirty="0"/>
          </a:p>
        </p:txBody>
      </p:sp>
      <p:sp>
        <p:nvSpPr>
          <p:cNvPr id="19" name="cartao"/>
          <p:cNvSpPr/>
          <p:nvPr/>
        </p:nvSpPr>
        <p:spPr>
          <a:xfrm>
            <a:off x="8503920" y="3931920"/>
            <a:ext cx="31089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20" name="marca"/>
          <p:cNvSpPr/>
          <p:nvPr/>
        </p:nvSpPr>
        <p:spPr>
          <a:xfrm>
            <a:off x="8732520" y="4187952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052560" y="40965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Disponibilidade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052560" y="4498848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Opcional: distingue "nunca esteve na loja", "disponível" e "esgotado".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Restrições de integridade</a:t>
            </a:r>
            <a:endParaRPr lang="en-US" sz="3200" dirty="0"/>
          </a:p>
        </p:txBody>
      </p:sp>
      <p:sp>
        <p:nvSpPr>
          <p:cNvPr id="3" name="disco"/>
          <p:cNvSpPr/>
          <p:nvPr/>
        </p:nvSpPr>
        <p:spPr>
          <a:xfrm>
            <a:off x="10561320" y="41148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disco-centro"/>
          <p:cNvSpPr/>
          <p:nvPr/>
        </p:nvSpPr>
        <p:spPr>
          <a:xfrm>
            <a:off x="10762488" y="61264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apresentador"/>
          <p:cNvSpPr txBox="1"/>
          <p:nvPr/>
        </p:nvSpPr>
        <p:spPr>
          <a:xfrm>
            <a:off x="941832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Ze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68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do enunciado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918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+21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06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novas, cada uma com origem</a:t>
            </a:r>
            <a:endParaRPr lang="en-US" sz="1400" dirty="0"/>
          </a:p>
        </p:txBody>
      </p:sp>
      <p:graphicFrame>
        <p:nvGraphicFramePr>
          <p:cNvPr id="8" name="tabela-restrico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0" y="1554480"/>
          <a:ext cx="81381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4572000"/>
                <a:gridCol w="25603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Restrição nova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Origem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RI-31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Um grupo só tem solistas como membros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Universo do discurso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RI-40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 máximo um artista favorito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US7 c)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RI-41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Cada versão só uma vez na coleção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US10 c)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RI-44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Estados do pedido: em análise, aceite, recusado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US13 d), US24 b)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RI-46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Só vai para o carrinho o que tem stock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US26 a)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3474720" y="49377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Todas as 51 restrições estão associadas a uma classe do modelo (Anexo A do relatório).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Serviços externos escolhidos</a:t>
            </a:r>
            <a:endParaRPr lang="en-US" sz="3200" dirty="0"/>
          </a:p>
        </p:txBody>
      </p:sp>
      <p:sp>
        <p:nvSpPr>
          <p:cNvPr id="3" name="disco"/>
          <p:cNvSpPr/>
          <p:nvPr/>
        </p:nvSpPr>
        <p:spPr>
          <a:xfrm>
            <a:off x="10561320" y="41148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disco-centro"/>
          <p:cNvSpPr/>
          <p:nvPr/>
        </p:nvSpPr>
        <p:spPr>
          <a:xfrm>
            <a:off x="10762488" y="61264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apresentador"/>
          <p:cNvSpPr txBox="1"/>
          <p:nvPr/>
        </p:nvSpPr>
        <p:spPr>
          <a:xfrm>
            <a:off x="941832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Ze</a:t>
            </a:r>
            <a:endParaRPr lang="en-US" sz="1200" dirty="0"/>
          </a:p>
        </p:txBody>
      </p:sp>
      <p:sp>
        <p:nvSpPr>
          <p:cNvPr id="6" name="cartao"/>
          <p:cNvSpPr/>
          <p:nvPr/>
        </p:nvSpPr>
        <p:spPr>
          <a:xfrm>
            <a:off x="548640" y="1645920"/>
            <a:ext cx="356616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7" name="marca"/>
          <p:cNvSpPr/>
          <p:nvPr/>
        </p:nvSpPr>
        <p:spPr>
          <a:xfrm>
            <a:off x="777240" y="1901952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18105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Mapas: Leaflet + OSM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212848"/>
            <a:ext cx="28346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Gratuito, sem cartão de crédito e de código aberto (RNF-05).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Comparado com Google Maps (10 000 carregamentos grátis/mês) e Mapbox.</a:t>
            </a:r>
            <a:endParaRPr lang="en-US" sz="1600" dirty="0"/>
          </a:p>
        </p:txBody>
      </p:sp>
      <p:sp>
        <p:nvSpPr>
          <p:cNvPr id="10" name="cartao"/>
          <p:cNvSpPr/>
          <p:nvPr/>
        </p:nvSpPr>
        <p:spPr>
          <a:xfrm>
            <a:off x="4315968" y="1645920"/>
            <a:ext cx="356616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1" name="marca"/>
          <p:cNvSpPr/>
          <p:nvPr/>
        </p:nvSpPr>
        <p:spPr>
          <a:xfrm>
            <a:off x="4544568" y="1901952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64608" y="18105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Geocodificação: Nominatim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864608" y="2212848"/>
            <a:ext cx="28346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O único que deixa guardar as coordenadas na base de dados de graça.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Cuidados: 1 pedido por morada, sem auto-complete, sem enviar o nome.</a:t>
            </a:r>
            <a:endParaRPr lang="en-US" sz="1600" dirty="0"/>
          </a:p>
        </p:txBody>
      </p:sp>
      <p:sp>
        <p:nvSpPr>
          <p:cNvPr id="14" name="cartao"/>
          <p:cNvSpPr/>
          <p:nvPr/>
        </p:nvSpPr>
        <p:spPr>
          <a:xfrm>
            <a:off x="8083296" y="1645920"/>
            <a:ext cx="356616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5" name="marca"/>
          <p:cNvSpPr/>
          <p:nvPr/>
        </p:nvSpPr>
        <p:spPr>
          <a:xfrm>
            <a:off x="8311896" y="1901952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31936" y="18105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Pagamentos: Stripe + PayPal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631936" y="2212848"/>
            <a:ext cx="28346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 US28 obriga a deixar o utilizador escolher o serviço.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Stripe: 1,5% + 0,25 € e MB WAY. PayPal: para quem paga com a conta. Ambos com modo de testes.</a:t>
            </a:r>
            <a:endParaRPr lang="en-US" sz="1600" dirty="0"/>
          </a:p>
        </p:txBody>
      </p:sp>
      <p:sp>
        <p:nvSpPr>
          <p:cNvPr id="18" name="outros-servicos"/>
          <p:cNvSpPr txBox="1"/>
          <p:nvPr/>
        </p:nvSpPr>
        <p:spPr>
          <a:xfrm>
            <a:off x="548640" y="53035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Também pesquisados: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imagens de capa no Cloudinary, com sugestão do Cover Art Archive pelo MBID; faixas e canções importadas da API do MusicBrainz (dados CC0).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Fluxo de compra: o pagamento</a:t>
            </a:r>
            <a:endParaRPr lang="en-US" sz="3200" dirty="0"/>
          </a:p>
        </p:txBody>
      </p:sp>
      <p:sp>
        <p:nvSpPr>
          <p:cNvPr id="3" name="disco"/>
          <p:cNvSpPr/>
          <p:nvPr/>
        </p:nvSpPr>
        <p:spPr>
          <a:xfrm>
            <a:off x="10561320" y="41148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disco-centro"/>
          <p:cNvSpPr/>
          <p:nvPr/>
        </p:nvSpPr>
        <p:spPr>
          <a:xfrm>
            <a:off x="10762488" y="61264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apresentador"/>
          <p:cNvSpPr txBox="1"/>
          <p:nvPr/>
        </p:nvSpPr>
        <p:spPr>
          <a:xfrm>
            <a:off x="941832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Edson</a:t>
            </a:r>
            <a:endParaRPr lang="en-US" sz="1200" dirty="0"/>
          </a:p>
        </p:txBody>
      </p:sp>
      <p:pic>
        <p:nvPicPr>
          <p:cNvPr id="6" name="diagrama-pagar" descr="C:\Users\rodri\Desktop\PGP\etapa1\atividades\img\01-1-pag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534" y="1280160"/>
            <a:ext cx="3242052" cy="50749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7" name="passo"/>
          <p:cNvSpPr/>
          <p:nvPr/>
        </p:nvSpPr>
        <p:spPr>
          <a:xfrm>
            <a:off x="4389120" y="1645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3891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029200" y="160020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Reserva as unidades; se uma versão esgotou entretanto, sai do carrinho</a:t>
            </a:r>
            <a:endParaRPr lang="en-US" sz="1500" dirty="0"/>
          </a:p>
        </p:txBody>
      </p:sp>
      <p:sp>
        <p:nvSpPr>
          <p:cNvPr id="10" name="passo"/>
          <p:cNvSpPr/>
          <p:nvPr/>
        </p:nvSpPr>
        <p:spPr>
          <a:xfrm>
            <a:off x="4389120" y="2514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38912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029200" y="24688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utilizador escolhe Stripe ou PayPal e paga na página do serviço</a:t>
            </a:r>
            <a:endParaRPr lang="en-US" sz="1500" dirty="0"/>
          </a:p>
        </p:txBody>
      </p:sp>
      <p:sp>
        <p:nvSpPr>
          <p:cNvPr id="13" name="passo"/>
          <p:cNvSpPr/>
          <p:nvPr/>
        </p:nvSpPr>
        <p:spPr>
          <a:xfrm>
            <a:off x="4389120" y="33832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38912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0" y="33375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Espera pelo resultado (US28 c); sem resposta no tempo limite, liberta a reserva</a:t>
            </a:r>
            <a:endParaRPr lang="en-US" sz="1500" dirty="0"/>
          </a:p>
        </p:txBody>
      </p:sp>
      <p:sp>
        <p:nvSpPr>
          <p:cNvPr id="16" name="passo"/>
          <p:cNvSpPr/>
          <p:nvPr/>
        </p:nvSpPr>
        <p:spPr>
          <a:xfrm>
            <a:off x="4389120" y="4251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38912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029200" y="42062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Sucesso: emite a fatura; coleção e stock atualizados em paralelo (fork/join)</a:t>
            </a:r>
            <a:endParaRPr lang="en-US" sz="1500" dirty="0"/>
          </a:p>
        </p:txBody>
      </p:sp>
      <p:sp>
        <p:nvSpPr>
          <p:cNvPr id="19" name="passo"/>
          <p:cNvSpPr/>
          <p:nvPr/>
        </p:nvSpPr>
        <p:spPr>
          <a:xfrm>
            <a:off x="4389120" y="5120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8912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5029200" y="50749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Falha: tentar com outro serviço ou cancelar (US28 g)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Pedido de nova versão: três atores</a:t>
            </a:r>
            <a:endParaRPr lang="en-US" sz="3200" dirty="0"/>
          </a:p>
        </p:txBody>
      </p:sp>
      <p:sp>
        <p:nvSpPr>
          <p:cNvPr id="3" name="disco"/>
          <p:cNvSpPr/>
          <p:nvPr/>
        </p:nvSpPr>
        <p:spPr>
          <a:xfrm>
            <a:off x="10561320" y="41148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disco-centro"/>
          <p:cNvSpPr/>
          <p:nvPr/>
        </p:nvSpPr>
        <p:spPr>
          <a:xfrm>
            <a:off x="10762488" y="61264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apresentador"/>
          <p:cNvSpPr txBox="1"/>
          <p:nvPr/>
        </p:nvSpPr>
        <p:spPr>
          <a:xfrm>
            <a:off x="941832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Edson</a:t>
            </a:r>
            <a:endParaRPr lang="en-US" sz="1200" dirty="0"/>
          </a:p>
        </p:txBody>
      </p:sp>
      <p:pic>
        <p:nvPicPr>
          <p:cNvPr id="6" name="diagrama-pedido" descr="C:\Users\rodri\Desktop\PGP\etapa1\atividades\img\02-pedido-nova-vers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844" y="1280160"/>
            <a:ext cx="3575193" cy="50749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7" name="passo"/>
          <p:cNvSpPr/>
          <p:nvPr/>
        </p:nvSpPr>
        <p:spPr>
          <a:xfrm>
            <a:off x="4663440" y="17373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6634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303520" y="169164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utilizador pede uma versão nova de um álbum (US12)</a:t>
            </a:r>
            <a:endParaRPr lang="en-US" sz="1500" dirty="0"/>
          </a:p>
        </p:txBody>
      </p:sp>
      <p:sp>
        <p:nvSpPr>
          <p:cNvPr id="10" name="passo"/>
          <p:cNvSpPr/>
          <p:nvPr/>
        </p:nvSpPr>
        <p:spPr>
          <a:xfrm>
            <a:off x="4663440" y="2788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6344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274320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pedido fica "em análise" até o gestor decidir</a:t>
            </a:r>
            <a:endParaRPr lang="en-US" sz="1500" dirty="0"/>
          </a:p>
        </p:txBody>
      </p:sp>
      <p:sp>
        <p:nvSpPr>
          <p:cNvPr id="13" name="passo"/>
          <p:cNvSpPr/>
          <p:nvPr/>
        </p:nvSpPr>
        <p:spPr>
          <a:xfrm>
            <a:off x="4663440" y="3840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6634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303520" y="379476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gestor aceita (a versão é criada) ou recusa (US24)</a:t>
            </a:r>
            <a:endParaRPr lang="en-US" sz="1500" dirty="0"/>
          </a:p>
        </p:txBody>
      </p:sp>
      <p:sp>
        <p:nvSpPr>
          <p:cNvPr id="16" name="passo"/>
          <p:cNvSpPr/>
          <p:nvPr/>
        </p:nvSpPr>
        <p:spPr>
          <a:xfrm>
            <a:off x="4663440" y="4892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66344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0" y="484632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utilizador recebe uma notificação no dashboard (US14)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Página de álbum: cinco user stories num ecrã</a:t>
            </a:r>
            <a:endParaRPr lang="en-US" sz="3200" dirty="0"/>
          </a:p>
        </p:txBody>
      </p:sp>
      <p:sp>
        <p:nvSpPr>
          <p:cNvPr id="3" name="disco"/>
          <p:cNvSpPr/>
          <p:nvPr/>
        </p:nvSpPr>
        <p:spPr>
          <a:xfrm>
            <a:off x="10561320" y="41148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disco-centro"/>
          <p:cNvSpPr/>
          <p:nvPr/>
        </p:nvSpPr>
        <p:spPr>
          <a:xfrm>
            <a:off x="10762488" y="61264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apresentador"/>
          <p:cNvSpPr txBox="1"/>
          <p:nvPr/>
        </p:nvSpPr>
        <p:spPr>
          <a:xfrm>
            <a:off x="941832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Miguel</a:t>
            </a:r>
            <a:endParaRPr lang="en-US" sz="1200" dirty="0"/>
          </a:p>
        </p:txBody>
      </p:sp>
      <p:pic>
        <p:nvPicPr>
          <p:cNvPr id="6" name="esboco-album" descr="C:\Users\rodri\Desktop\PGP\etapa1\esbocos\img\E01-pagina-alb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890" y="1371600"/>
            <a:ext cx="6403579" cy="493776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8321040" y="1554480"/>
            <a:ext cx="32918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Uma linha por versão, com o estado na loja: disponível, esgotada ou nunca vendida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Carrinho só ativo com stock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Coluna extra só para o gestor alterar unidades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Notas amarelas ligam cada elemento à sua user story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Carrinho, pagamento e telemóvel</a:t>
            </a:r>
            <a:endParaRPr lang="en-US" sz="3200" dirty="0"/>
          </a:p>
        </p:txBody>
      </p:sp>
      <p:sp>
        <p:nvSpPr>
          <p:cNvPr id="3" name="disco"/>
          <p:cNvSpPr/>
          <p:nvPr/>
        </p:nvSpPr>
        <p:spPr>
          <a:xfrm>
            <a:off x="10561320" y="41148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disco-centro"/>
          <p:cNvSpPr/>
          <p:nvPr/>
        </p:nvSpPr>
        <p:spPr>
          <a:xfrm>
            <a:off x="10762488" y="61264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apresentador"/>
          <p:cNvSpPr txBox="1"/>
          <p:nvPr/>
        </p:nvSpPr>
        <p:spPr>
          <a:xfrm>
            <a:off x="941832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Miguel</a:t>
            </a:r>
            <a:endParaRPr lang="en-US" sz="1200" dirty="0"/>
          </a:p>
        </p:txBody>
      </p:sp>
      <p:pic>
        <p:nvPicPr>
          <p:cNvPr id="6" name="esboco-carrinho" descr="C:\Users\rodri\Desktop\PGP\etapa1\esbocos\img\E02-carrinho-paga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43802"/>
            <a:ext cx="7863840" cy="399335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7" name="esboco-telemovel" descr="C:\Users\rodri\Desktop\PGP\etapa1\esbocos\img\E12-telemovel-carrinh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1707232"/>
            <a:ext cx="2834640" cy="4266497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que perguntámos e o que assumimos</a:t>
            </a:r>
            <a:endParaRPr lang="en-US" sz="3200" dirty="0"/>
          </a:p>
        </p:txBody>
      </p:sp>
      <p:sp>
        <p:nvSpPr>
          <p:cNvPr id="3" name="disco"/>
          <p:cNvSpPr/>
          <p:nvPr/>
        </p:nvSpPr>
        <p:spPr>
          <a:xfrm>
            <a:off x="10561320" y="41148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disco-centro"/>
          <p:cNvSpPr/>
          <p:nvPr/>
        </p:nvSpPr>
        <p:spPr>
          <a:xfrm>
            <a:off x="10762488" y="61264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apresentador"/>
          <p:cNvSpPr txBox="1"/>
          <p:nvPr/>
        </p:nvSpPr>
        <p:spPr>
          <a:xfrm>
            <a:off x="941832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Reis</a:t>
            </a:r>
            <a:endParaRPr lang="en-US" sz="1200" dirty="0"/>
          </a:p>
        </p:txBody>
      </p:sp>
      <p:graphicFrame>
        <p:nvGraphicFramePr>
          <p:cNvPr id="14" name="tabela-suposico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5778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Questão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Suposição até haver resposta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US28 f) está incompleta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Regista-se a data da última venda (RI-17)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"Recusado" (US13/14) ou "rejeitado" (US24)?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Usamos "recusado"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US3 mostra a palavra-passe, a RNF-12 manda cifrá-la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Guardada cifrada, mostrada mascarada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Nenhuma user story regista as canções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Importação em bloco (nota 12)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Sem quantidades no carrinho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Cada linha é uma unidade de uma versão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Obrigado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D4D4D8"/>
                </a:solidFill>
              </a:rPr>
              <a:t>Perguntas?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D4D4D8"/>
                </a:solidFill>
              </a:rPr>
              <a:t> 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D4D4D8"/>
                </a:solidFill>
              </a:rPr>
              <a:t>Relatório completo e todos os diagramas no repositório do grupo.</a:t>
            </a:r>
            <a:endParaRPr lang="en-US" sz="1800" dirty="0"/>
          </a:p>
        </p:txBody>
      </p:sp>
      <p:sp>
        <p:nvSpPr>
          <p:cNvPr id="4" name="disco-grande"/>
          <p:cNvSpPr/>
          <p:nvPr/>
        </p:nvSpPr>
        <p:spPr>
          <a:xfrm>
            <a:off x="8778240" y="1463040"/>
            <a:ext cx="4206240" cy="4206240"/>
          </a:xfrm>
          <a:prstGeom prst="ellipse">
            <a:avLst/>
          </a:prstGeom>
          <a:solidFill>
            <a:srgbClr val="27272A"/>
          </a:solidFill>
          <a:ln w="25400">
            <a:solidFill>
              <a:srgbClr val="3F3F46"/>
            </a:solidFill>
            <a:prstDash val="solid"/>
          </a:ln>
        </p:spPr>
      </p:sp>
      <p:sp>
        <p:nvSpPr>
          <p:cNvPr id="5" name="sulco"/>
          <p:cNvSpPr/>
          <p:nvPr/>
        </p:nvSpPr>
        <p:spPr>
          <a:xfrm>
            <a:off x="9418320" y="2103120"/>
            <a:ext cx="2926080" cy="2926080"/>
          </a:xfrm>
          <a:prstGeom prst="ellipse">
            <a:avLst/>
          </a:prstGeom>
          <a:solidFill>
            <a:srgbClr val="27272A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6" name="rotulo"/>
          <p:cNvSpPr/>
          <p:nvPr/>
        </p:nvSpPr>
        <p:spPr>
          <a:xfrm>
            <a:off x="10378440" y="306324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furo"/>
          <p:cNvSpPr/>
          <p:nvPr/>
        </p:nvSpPr>
        <p:spPr>
          <a:xfrm>
            <a:off x="10817352" y="3502152"/>
            <a:ext cx="128016" cy="12801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Vinil">
  <a:themeElements>
    <a:clrScheme name="Vinil">
      <a:dk1>
        <a:srgbClr val="18181B"/>
      </a:dk1>
      <a:lt1>
        <a:srgbClr val="FFFFFF"/>
      </a:lt1>
      <a:dk2>
        <a:srgbClr val="3F3F46"/>
      </a:dk2>
      <a:lt2>
        <a:srgbClr val="F4F4F5"/>
      </a:lt2>
      <a:accent1>
        <a:srgbClr val="B91C1C"/>
      </a:accent1>
      <a:accent2>
        <a:srgbClr val="F59E0B"/>
      </a:accent2>
      <a:accent3>
        <a:srgbClr val="15803D"/>
      </a:accent3>
      <a:accent4>
        <a:srgbClr val="1D4ED8"/>
      </a:accent4>
      <a:accent5>
        <a:srgbClr val="7E22CE"/>
      </a:accent5>
      <a:accent6>
        <a:srgbClr val="71717A"/>
      </a:accent6>
      <a:hlink>
        <a:srgbClr val="B91C1C"/>
      </a:hlink>
      <a:folHlink>
        <a:srgbClr val="7F1D1D"/>
      </a:folHlink>
    </a:clrScheme>
    <a:fontScheme name="Vini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PGP 2026/27 · Etapa 1</dc:title>
  <dc:subject>PptxGenJS Presentation</dc:subject>
  <dc:creator>PptxGenJS</dc:creator>
  <cp:lastModifiedBy>PptxGenJS</cp:lastModifiedBy>
  <cp:revision>1</cp:revision>
  <dcterms:created xsi:type="dcterms:W3CDTF">2026-10-29T16:25:37Z</dcterms:created>
  <dcterms:modified xsi:type="dcterms:W3CDTF">2026-10-29T16:25:37Z</dcterms:modified>
</cp:coreProperties>
</file>